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VANAN A" userId="b06748c7a0cab9c3" providerId="LiveId" clId="{94C3DD22-B96A-4531-99C3-77B0DC600D49}"/>
    <pc:docChg chg="modSld">
      <pc:chgData name="SARAVANAN A" userId="b06748c7a0cab9c3" providerId="LiveId" clId="{94C3DD22-B96A-4531-99C3-77B0DC600D49}" dt="2026-10-02T08:59:56.649" v="0" actId="1076"/>
      <pc:docMkLst>
        <pc:docMk/>
      </pc:docMkLst>
      <pc:sldChg chg="modSp mod">
        <pc:chgData name="SARAVANAN A" userId="b06748c7a0cab9c3" providerId="LiveId" clId="{94C3DD22-B96A-4531-99C3-77B0DC600D49}" dt="2026-10-02T08:59:56.649" v="0" actId="1076"/>
        <pc:sldMkLst>
          <pc:docMk/>
          <pc:sldMk cId="0" sldId="263"/>
        </pc:sldMkLst>
        <pc:spChg chg="mod">
          <ac:chgData name="SARAVANAN A" userId="b06748c7a0cab9c3" providerId="LiveId" clId="{94C3DD22-B96A-4531-99C3-77B0DC600D49}" dt="2026-10-02T08:59:56.649" v="0" actId="1076"/>
          <ac:spMkLst>
            <pc:docMk/>
            <pc:sldMk cId="0" sldId="263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</a:defRPr>
            </a:pPr>
            <a:r>
              <a:t>CloudEvidence DEMS</a:t>
            </a:r>
          </a:p>
          <a:p>
            <a:pPr>
              <a:spcAft>
                <a:spcPts val="2000"/>
              </a:spcAft>
              <a:defRPr sz="2400">
                <a:solidFill>
                  <a:srgbClr val="F8FAFC"/>
                </a:solidFill>
              </a:defRPr>
            </a:pPr>
            <a:r>
              <a:t>Secure Digital Evidence Management System</a:t>
            </a:r>
          </a:p>
          <a:p>
            <a:pPr>
              <a:defRPr sz="1500">
                <a:solidFill>
                  <a:srgbClr val="818CF8"/>
                </a:solidFill>
              </a:defRPr>
            </a:pPr>
            <a:r>
              <a:t>Applied Cryptography (AES-256 &amp; SHA-256) | ISO 27037 Chain of Custody | Real-Time AI Forensic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Problem Statement: Vulnerabilities in Digital Evidence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❌ Risk of Data Tampering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Digital evidence files (CCTV, audio, documents) can be modified or corrupted without detection. A single altered byte invalidates evidence in court.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❌ Broken Chain of Custody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Traditional file systems lack automated logging of WHO accessed, viewed, downloaded, or shared evidence, violating ISO 27037 standards.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❌ Unencrypted Plaintext Storage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Storing sensitive legal files unencrypted on server drives creates high risk of data breaches, leaks, and unauthorized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❌ Slow &amp; Inefficient Search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Investigative teams waste critical hours manually searching through unstructured file directories for evidence and case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System Purpose &amp; Key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🎯 Cryptographic Integrity: </a:t>
            </a:r>
            <a:r>
              <a:rPr sz="1400" b="0">
                <a:solidFill>
                  <a:srgbClr val="F8FAFC"/>
                </a:solidFill>
              </a:rPr>
              <a:t>Guarantee mathematical proof (SHA-256) that evidence files remain 100% unaltered since ingestion.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🎯 Envelope Encryption: </a:t>
            </a:r>
            <a:r>
              <a:rPr sz="1400" b="0">
                <a:solidFill>
                  <a:srgbClr val="F8FAFC"/>
                </a:solidFill>
              </a:rPr>
              <a:t>Protect data at rest using AES-256 envelope architecture with unique per-file Data Encryption Keys (DEK).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🎯 Immutable Chain of Custody: </a:t>
            </a:r>
            <a:r>
              <a:rPr sz="1400" b="0">
                <a:solidFill>
                  <a:srgbClr val="F8FAFC"/>
                </a:solidFill>
              </a:rPr>
              <a:t>Automatically record every user action into an ISO 27037 &amp; NIST compliant audit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🎯 Role Clearance Hierarchy: </a:t>
            </a:r>
            <a:r>
              <a:rPr sz="1400" b="0">
                <a:solidFill>
                  <a:srgbClr val="F8FAFC"/>
                </a:solidFill>
              </a:rPr>
              <a:t>Enforce Role-Based Access Control across Administrator, Investigation Officer, and Standard User tiers.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🎯 AI Forensic Intelligence: </a:t>
            </a:r>
            <a:r>
              <a:rPr sz="1400" b="0">
                <a:solidFill>
                  <a:srgbClr val="F8FAFC"/>
                </a:solidFill>
              </a:rPr>
              <a:t>Provide an embedded AI Assistant for real-time live database lookup, stats, and forensic guidelines.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Data Storage &amp; Repository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MongoDB Database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📍 Path: mongodb://localhost:27017/cloudevidence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User Accounts (hashed passwords, roles, status)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Evidence Metadata (titles, tags, categories, SHA-256 hashes)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Encrypted File Keys (AES-256 DEKs &amp; IVs)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Immutable Chain of Custody Audit Log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4290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Encrypted Disk Repository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📍 Path: backend/uploads/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Stores raw encrypted file binary blobs at rest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Files are encrypted with AES-256-GCM before saving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Cannot be opened or read directly from server hard drive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Decrypted only on-demand in memory for authorized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554480"/>
            <a:ext cx="34290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818CF8"/>
                </a:solidFill>
              </a:defRPr>
            </a:pPr>
            <a:r>
              <a:t>Environment Configuration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📍 Path: backend/.env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MASTER_ENCRYPTION_KEY (AES Master Key)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JWT_SECRET &amp; JWT_REFRESH_SECRET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EMAIL_USER &amp; EMAIL_PASS (App Password for sasukei7074@gmail.com)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GEMINI_API_KEY (Optional Google LLM API Key)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Login &amp; Authentication Features (With File Mappings)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Security Feature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Technical Description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Code File Path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Password Hashing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Hashes user passwords with bcryptjs (salt factor 10).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backend/models/User.js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JWT Dual Tokens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Issues 1-day Access Tokens &amp; 7-day Refresh Tokens.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backend/controllers/authController.js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Password Complexity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Enforces 8+ chars, uppercase, lowercase, digit, symbol.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backend/controllers/authController.js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2FA OTP Email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Dispatches 6-digit OTP via sasukei7074@gmail.com mailer.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backend/services/emailService.js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Eye Password Toggle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Interactive show/hide password buttons (FiEye/FiEyeOff).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frontend/src/pages/LoginPage.jsx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Rate Limiting &amp; Helmet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Prevents brute force attacks (100 req/15 min limit).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backend/server.js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Admin Clearance Guard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Requires Admin activation before user login is allowed.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backend/controllers/authController.js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Anti-Tampering &amp; Cryptographic Protection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🔐 SHA-256 Integrity Verification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Calculates SHA-256 hash upon file upload.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Stored in MongoDB alongside evidence metadata.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Re-computed on download/viewing request.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If even 1 bit changes, system flags an Integrity Mismatch Alert.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Provides mathematical courtroom proof of file authenticity.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Code: backend/controllers/evidenceController.js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5081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🔒 AES-256 Envelope Encryption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Every file is encrypted with a unique Data Encryption Key (DEK).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DEK is encrypted using Master Encryption Key (MEK).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Encrypted binary blobs stored in backend/uploads/.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Server administrators cannot inspect files on disk.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Decrypted only in memory for users with authorized RBAC clearance.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Code: backend/controllers/evidenceController.js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Chain of Custody &amp; Audit Logging (ISO 27037 / NIST)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818CF8"/>
                </a:solidFill>
              </a:defRPr>
            </a:pPr>
            <a:r>
              <a:t>📜 Automated Audit Logger Utility (backend/utils/auditLogger.js)</a:t>
            </a:r>
          </a:p>
          <a:p>
            <a:pPr>
              <a:spcBef>
                <a:spcPts val="1000"/>
              </a:spcBef>
              <a:defRPr sz="1400" b="1">
                <a:solidFill>
                  <a:srgbClr val="38BDF8"/>
                </a:solidFill>
              </a:defRPr>
            </a:pPr>
            <a:r>
              <a:t>• Logged Events: </a:t>
            </a:r>
            <a:r>
              <a:rPr b="0">
                <a:solidFill>
                  <a:srgbClr val="F8FAFC"/>
                </a:solidFill>
              </a:rPr>
              <a:t>UPLOAD, VIEW, DOWNLOAD, SHARE, LOGIN, LOGIN_FAIL, VERIFY_EMAIL, RESET_PASSWORD</a:t>
            </a:r>
          </a:p>
          <a:p>
            <a:pPr>
              <a:spcBef>
                <a:spcPts val="1000"/>
              </a:spcBef>
              <a:defRPr sz="1400" b="1">
                <a:solidFill>
                  <a:srgbClr val="38BDF8"/>
                </a:solidFill>
              </a:defRPr>
            </a:pPr>
            <a:r>
              <a:t>• Audit Record Payload: </a:t>
            </a:r>
            <a:r>
              <a:rPr b="0">
                <a:solidFill>
                  <a:srgbClr val="F8FAFC"/>
                </a:solidFill>
              </a:rPr>
              <a:t>User ID &amp; Name | Action Type | Resource Target | Client IP Address | Device User-Agent | Exact Timestamp</a:t>
            </a:r>
          </a:p>
          <a:p>
            <a:pPr>
              <a:spcBef>
                <a:spcPts val="1000"/>
              </a:spcBef>
              <a:defRPr sz="1400" b="1">
                <a:solidFill>
                  <a:srgbClr val="38BDF8"/>
                </a:solidFill>
              </a:defRPr>
            </a:pPr>
            <a:r>
              <a:t>• Compliance Standard: </a:t>
            </a:r>
            <a:r>
              <a:rPr b="0">
                <a:solidFill>
                  <a:srgbClr val="F8FAFC"/>
                </a:solidFill>
              </a:rPr>
              <a:t>Follows ISO 27037 guidelines for identification, collection, acquisition, and preservation of digital evidence.</a:t>
            </a:r>
          </a:p>
          <a:p>
            <a:pPr>
              <a:spcBef>
                <a:spcPts val="1000"/>
              </a:spcBef>
              <a:defRPr sz="1400" b="1">
                <a:solidFill>
                  <a:srgbClr val="38BDF8"/>
                </a:solidFill>
              </a:defRPr>
            </a:pPr>
            <a:r>
              <a:t>• Audit UI Dashboard: </a:t>
            </a:r>
            <a:r>
              <a:rPr b="0">
                <a:solidFill>
                  <a:srgbClr val="F8FAFC"/>
                </a:solidFill>
              </a:rPr>
              <a:t>Searchable, filterable audit log table located at frontend/src/pages/AuditLogsPage.jsx (Admin &amp; Officer access only).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Role-Based Access Control (User Roles &amp; Clear Functions)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37160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👑 Administrator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Permissions &amp; Functions: Full system control, user registration approvals, role assignments, system config, full audit log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🛡️ Investigation Officer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Permissions &amp; Functions: Manages cases, links evidence to cases, performs version rollbacks, and views audit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818CF8"/>
                </a:solidFill>
              </a:defRPr>
            </a:pPr>
            <a:r>
              <a:t>👤 Standard User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Permissions &amp; Functions: Uploads evidence artifacts (AES-256 encrypted + SHA-256 hashed), views authorized files, &amp; uses AI Assistant.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Smart AI Forensic Assistant &amp; Live Database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🤖 AI Forensic Assistant Architecture</a:t>
            </a:r>
          </a:p>
          <a:p>
            <a:pPr>
              <a:spcBef>
                <a:spcPts val="800"/>
              </a:spcBef>
              <a:defRPr sz="1400" b="1">
                <a:solidFill>
                  <a:srgbClr val="34D399"/>
                </a:solidFill>
              </a:defRPr>
            </a:pPr>
            <a:r>
              <a:t>• Floating UI Widget: </a:t>
            </a:r>
            <a:r>
              <a:rPr b="0">
                <a:solidFill>
                  <a:srgbClr val="F8FAFC"/>
                </a:solidFill>
              </a:rPr>
              <a:t>Glassmorphic widget embedded in DashboardLayout.jsx with quick prompt suggestions.</a:t>
            </a:r>
          </a:p>
          <a:p>
            <a:pPr>
              <a:spcBef>
                <a:spcPts val="800"/>
              </a:spcBef>
              <a:defRPr sz="1400" b="1">
                <a:solidFill>
                  <a:srgbClr val="34D399"/>
                </a:solidFill>
              </a:defRPr>
            </a:pPr>
            <a:r>
              <a:t>• Live Database Keyword Search: </a:t>
            </a:r>
            <a:r>
              <a:rPr b="0">
                <a:solidFill>
                  <a:srgbClr val="F8FAFC"/>
                </a:solidFill>
              </a:rPr>
              <a:t>Performs real-time regex queries on MongoDB for evidence titles, categories, tags, and filenames.</a:t>
            </a:r>
          </a:p>
          <a:p>
            <a:pPr>
              <a:spcBef>
                <a:spcPts val="800"/>
              </a:spcBef>
              <a:defRPr sz="1400" b="1">
                <a:solidFill>
                  <a:srgbClr val="34D399"/>
                </a:solidFill>
              </a:defRPr>
            </a:pPr>
            <a:r>
              <a:t>• Intent &amp; Greeting Engine: </a:t>
            </a:r>
            <a:r>
              <a:rPr b="0">
                <a:solidFill>
                  <a:srgbClr val="F8FAFC"/>
                </a:solidFill>
              </a:rPr>
              <a:t>Recognizes greetings (hi, hello) and answers NIST / ISO 27037 / SHA-256 compliance questions.</a:t>
            </a:r>
          </a:p>
          <a:p>
            <a:pPr>
              <a:spcBef>
                <a:spcPts val="800"/>
              </a:spcBef>
              <a:defRPr sz="1400" b="1">
                <a:solidFill>
                  <a:srgbClr val="34D399"/>
                </a:solidFill>
              </a:defRPr>
            </a:pPr>
            <a:r>
              <a:t>• Google Gemini API Integration: </a:t>
            </a:r>
            <a:r>
              <a:rPr b="0">
                <a:solidFill>
                  <a:srgbClr val="F8FAFC"/>
                </a:solidFill>
              </a:rPr>
              <a:t>Connects to gemini-1.5-flash when GEMINI_API_KEY is present in .env for unrestricted LLM reasoning.</a:t>
            </a:r>
          </a:p>
          <a:p>
            <a:pPr>
              <a:spcBef>
                <a:spcPts val="800"/>
              </a:spcBef>
              <a:defRPr sz="1400" b="1">
                <a:solidFill>
                  <a:srgbClr val="34D399"/>
                </a:solidFill>
              </a:defRPr>
            </a:pPr>
            <a:r>
              <a:t>• Code File Paths: </a:t>
            </a:r>
            <a:r>
              <a:rPr b="0">
                <a:solidFill>
                  <a:srgbClr val="F8FAFC"/>
                </a:solidFill>
              </a:rPr>
              <a:t>Backend: backend/controllers/aiController.js | Frontend: frontend/src/components/common/AiChatAssistant.jsx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Complete Feature-to-File Code Mapping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88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Module / Feature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Functional Purpose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Exact File Location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Server Runtime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Express setup, Helmet, CORS, Rate Limit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backend/server.js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Database Connection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MongoDB Mongoose connection setup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backend/config/db.js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Environment Configuration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Master key, JWT secrets, SMTP credentials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backend/.env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Auth Controller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Login, Registration, OTP, Password Reset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backend/controllers/authController.js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Email Service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Central Gmail SMTP transporter &amp; OTP dispatch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backend/services/emailService.js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Evidence Controller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AES-256 &amp; SHA-256 file processing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backend/controllers/evidenceController.js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AI Assistant Backend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Live DB search, Gemini LLM fallback logic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backend/controllers/aiController.js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AI Assistant UI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Floating chat widget component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frontend/src/components/common/AiChatAssistant.jsx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Audit Logger Utility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Automatic Chain of Custody logger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backend/utils/auditLogger.js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88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API Axios Service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Axios instance with JWT interceptor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frontend/src/services/api.js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Why CloudEvidence is the Best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🏆 Courtroom Admissibility: </a:t>
            </a:r>
            <a:r>
              <a:rPr b="0">
                <a:solidFill>
                  <a:srgbClr val="F8FAFC"/>
                </a:solidFill>
              </a:rPr>
              <a:t>Cryptographic SHA-256 hashing guarantees evidence integrity for trial proceedings.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🛡️ Enterprise Confidentiality: </a:t>
            </a:r>
            <a:r>
              <a:rPr b="0">
                <a:solidFill>
                  <a:srgbClr val="F8FAFC"/>
                </a:solidFill>
              </a:rPr>
              <a:t>AES-256 envelope encryption ensures server admins cannot inspect raw disk blobs.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📜 ISO 27037 Compliance: </a:t>
            </a:r>
            <a:r>
              <a:rPr b="0">
                <a:solidFill>
                  <a:srgbClr val="F8FAFC"/>
                </a:solidFill>
              </a:rPr>
              <a:t>Automated, tamper-evident Chain of Custody logging for all user interactions.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⚡ AI-Powered Efficiency: </a:t>
            </a:r>
            <a:r>
              <a:rPr b="0">
                <a:solidFill>
                  <a:srgbClr val="F8FAFC"/>
                </a:solidFill>
              </a:rPr>
              <a:t>AI Assistant reduces evidence search time from hours to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🎨 State-of-the-Art UX: </a:t>
            </a:r>
            <a:r>
              <a:rPr b="0">
                <a:solidFill>
                  <a:srgbClr val="F8FAFC"/>
                </a:solidFill>
              </a:rPr>
              <a:t>Dark-mode glassmorphic interface with password eye toggles and responsive layouts.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Conclusion &amp;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2200" b="1">
                <a:solidFill>
                  <a:srgbClr val="34D399"/>
                </a:solidFill>
              </a:defRPr>
            </a:pPr>
            <a:r>
              <a:t>🌟 Summary of Project Value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CloudEvidence transforms traditional, vulnerable evidence storage into an impenetrable, audit-compliant, and AI-powered Digital Evidence Management System.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✔ Cryptographically Proven Integrity (AES-256 + SHA-256)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✔ Unbroken Chain of Custody (ISO 27037 Audit Logs)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✔ Real-Time AI Forensic Intelligence &amp; Live DB Search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✔ Production-Ready Full-Stack MERN Implementation</a:t>
            </a:r>
          </a:p>
          <a:p>
            <a:br/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1398</Words>
  <Application>Microsoft Office PowerPoint</Application>
  <PresentationFormat>Widescreen</PresentationFormat>
  <Paragraphs>156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SARAVANAN A</cp:lastModifiedBy>
  <cp:revision>1</cp:revision>
  <dcterms:created xsi:type="dcterms:W3CDTF">2013-01-27T09:14:16Z</dcterms:created>
  <dcterms:modified xsi:type="dcterms:W3CDTF">2026-10-02T09:00:07Z</dcterms:modified>
  <cp:category/>
</cp:coreProperties>
</file>